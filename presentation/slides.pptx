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r+iw7fk0juUJJ9u6NBIHmsR/f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 everyone, I'm Alice. For my final project, I built a serverless expense approval pipeline using two different architectures to compare a code-first approach against a visual, declarative approach.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pipeline handles 6 business rules: field validation, category enforcement, auto-approval for low-value expenses, manager approval with a timeout/escalation path, and employee email notification for all outcomes. Both versions implement the exact same logic.</a:t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A relies on Durable Functions. The biggest design choice was pulling validation into the HTTP Starter rather than the orchestrator, preventing silent background failures. The human interaction pattern uses WaitForExternalEvent alongside a CreateTimer — both run as parallel tasks.</a:t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Talk through the demo video: show a successful auto-approved run (&lt; $100), the manager approval flow (≥ $100), the timeout/escalation scenario, and a validation error rejection.</a:t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B shifts to an event-driven model. The Logic App acts as the brain, pulling from a Service Bus Queue. The Python function handles pure validation math, and the human interaction is handled natively via the Outlook connector.</a:t>
            </a:r>
            <a:endParaRPr/>
          </a:p>
        </p:txBody>
      </p:sp>
      <p:sp>
        <p:nvSpPr>
          <p:cNvPr id="74" name="Google Shape;7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this demo, show the Logic App visually routing a request. Highlight how the approved and failed messages are routed into separate Service Bus Subscriptions using SQL filters. Show the run history panel to illustrate the visual observability advantage.</a:t>
            </a:r>
            <a:endParaRPr/>
          </a:p>
        </p:txBody>
      </p:sp>
      <p:sp>
        <p:nvSpPr>
          <p:cNvPr id="97" name="Google Shape;9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A wins on testability and error handling granularity. The biggest testing surprise for Version B was that 'low-code' doesn't mean 'easy to test' — triggering a Service Bus queue locally required writing a custom HMAC-SHA256 Python script just to generate a SAS token.</a:t>
            </a:r>
            <a:endParaRPr/>
          </a:p>
        </p:txBody>
      </p:sp>
      <p:sp>
        <p:nvSpPr>
          <p:cNvPr id="106" name="Google Shape;10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B wins on human interaction and observability. The visual run history makes debugging state transitions effortless compared to parsing Application Insights logs. Cost-wise, Version A is cheaper at scale due to the Service Bus Standard tier fixed base cost in Version B.</a:t>
            </a:r>
            <a:endParaRPr/>
          </a:p>
        </p:txBody>
      </p:sp>
      <p:sp>
        <p:nvSpPr>
          <p:cNvPr id="139" name="Google Shape;13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building this for production, I recommend Version B. The decoupled Service Bus architecture allows us to easily add new consumers — like an external accounting system — just by adding a new topic subscription without ever modifying the Logic App itself.</a:t>
            </a:r>
            <a:endParaRPr/>
          </a:p>
        </p:txBody>
      </p:sp>
      <p:sp>
        <p:nvSpPr>
          <p:cNvPr id="174" name="Google Shape;17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biggest surprise was that 'low code' doesn't mean 'easy to test.' Moving forward, I would ensure infrastructure-as-code is fully deployed before attempting to build or debug Logic App triggers. I'd also plan for the determinism constraint in Durable Functions from the start.</a:t>
            </a:r>
            <a:endParaRPr/>
          </a:p>
        </p:txBody>
      </p:sp>
      <p:sp>
        <p:nvSpPr>
          <p:cNvPr id="191" name="Google Shape;19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youtube.com/watch?v=7tPxLxvigzE" TargetMode="External"/><Relationship Id="rId4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youtube.com/watch?v=TM_GiWZwN8g" TargetMode="External"/><Relationship Id="rId4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85790" y="445830"/>
            <a:ext cx="2377500" cy="347400"/>
          </a:xfrm>
          <a:prstGeom prst="roundRect">
            <a:avLst>
              <a:gd fmla="val 26316" name="adj"/>
            </a:avLst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790" y="445830"/>
            <a:ext cx="237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CST8917 Serverless Applications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85790" y="994470"/>
            <a:ext cx="7772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BFA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AECBFA"/>
                </a:solidFill>
                <a:latin typeface="Calibri"/>
                <a:ea typeface="Calibri"/>
                <a:cs typeface="Calibri"/>
                <a:sym typeface="Calibri"/>
              </a:rPr>
              <a:t>Final Project:</a:t>
            </a:r>
            <a:endParaRPr b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85790" y="145167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Dual Implementation of an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Expense Approval Workflow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97240" y="3062745"/>
            <a:ext cx="3291900" cy="6402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1097240" y="3062745"/>
            <a:ext cx="3291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 A</a:t>
            </a: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Azure Durable Functions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754840" y="3062745"/>
            <a:ext cx="3291900" cy="6402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754840" y="3062745"/>
            <a:ext cx="3291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 B</a:t>
            </a: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Logic Apps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85790" y="410343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BF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ECBFA"/>
                </a:solidFill>
                <a:latin typeface="Calibri"/>
                <a:ea typeface="Calibri"/>
                <a:cs typeface="Calibri"/>
                <a:sym typeface="Calibri"/>
              </a:rPr>
              <a:t>Alice Yang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85790" y="442347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Winter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65750" y="3344350"/>
            <a:ext cx="2651700" cy="170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365750" y="3344425"/>
            <a:ext cx="73200" cy="17031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93740" y="3382649"/>
            <a:ext cx="2395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Validation Rules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93713" y="3756922"/>
            <a:ext cx="23958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Required 6 fields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Valid categories: travel, meals,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supplies, equipment, software, other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246112" y="3344350"/>
            <a:ext cx="2651700" cy="170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246112" y="3344425"/>
            <a:ext cx="73200" cy="17031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3374100" y="3382649"/>
            <a:ext cx="2395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Routing Rules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374074" y="3756922"/>
            <a:ext cx="23958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Amount &lt; $100 → Auto-Approved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Amount ≥ $100 → Manager Approval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Timeout → Escalated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126473" y="3344350"/>
            <a:ext cx="2651700" cy="170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6126475" y="3344425"/>
            <a:ext cx="73200" cy="17031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6254460" y="3382649"/>
            <a:ext cx="2395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Notification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254436" y="3756922"/>
            <a:ext cx="23958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Employee notified of all outcomes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Outcomes: Approved, Rejected,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or Escalated (</a:t>
            </a:r>
            <a:r>
              <a:rPr lang="en-US" sz="12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or Failed)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p2" title="mermaid-diagram-2026-04-10T00-05-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0" y="656886"/>
            <a:ext cx="9144003" cy="26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F0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 A: Azure Durable Functions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16175" y="3234149"/>
            <a:ext cx="4023300" cy="1798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416175" y="3234149"/>
            <a:ext cx="73200" cy="1798200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580767" y="3319780"/>
            <a:ext cx="37491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Key Design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80767" y="3722244"/>
            <a:ext cx="3749100" cy="11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Validation happens in HTTP Trigger</a:t>
            </a:r>
            <a:endParaRPr sz="150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Durable Timer for state management &amp; external event handling</a:t>
            </a:r>
            <a:endParaRPr sz="150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704551" y="3234158"/>
            <a:ext cx="4023300" cy="1798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4704551" y="3234158"/>
            <a:ext cx="73200" cy="17982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4869143" y="3315898"/>
            <a:ext cx="37491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00"/>
              <a:buFont typeface="Calibri"/>
              <a:buNone/>
            </a:pPr>
            <a:r>
              <a:rPr b="1" lang="en-US" sz="180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1" i="0" lang="en-US" sz="18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Human Interaction</a:t>
            </a:r>
            <a:r>
              <a:rPr b="1" lang="en-US" sz="180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b="1" i="0" lang="en-US" sz="18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 Pattern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869143" y="3700076"/>
            <a:ext cx="3749100" cy="12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Orchestrator sleeps via </a:t>
            </a:r>
            <a:r>
              <a:rPr b="1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WaitForExternalEvent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1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Durable </a:t>
            </a:r>
            <a:r>
              <a:rPr b="1" lang="en-US" sz="13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imer </a:t>
            </a: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(CreateTimer) runs in parallel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Timeout </a:t>
            </a: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 escalated outcome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Manager POSTs to </a:t>
            </a:r>
            <a:r>
              <a:rPr lang="en-US" sz="13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endpoint to “Approve” or “Reject”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3" title="mermaid-diagram-2026-04-10T00-13-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0075"/>
            <a:ext cx="9144003" cy="2486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3200400" y="4343400"/>
            <a:ext cx="2743200" cy="502920"/>
          </a:xfrm>
          <a:prstGeom prst="roundRect">
            <a:avLst>
              <a:gd fmla="val 27273" name="adj"/>
            </a:avLst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200400" y="4343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 A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Azure Durable Functions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p4" title="CST8917 Final Project: Version A, Durable Function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3347" y="640075"/>
            <a:ext cx="6177302" cy="347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F2F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 B: Logic Apps + Service Bus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365750" y="3033507"/>
            <a:ext cx="4023300" cy="2011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365750" y="3033507"/>
            <a:ext cx="73200" cy="2011800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530342" y="3129299"/>
            <a:ext cx="3749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i="0" lang="en-US" sz="17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Key Desig</a:t>
            </a:r>
            <a:r>
              <a:rPr b="1" lang="en-US" sz="17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30342" y="3579523"/>
            <a:ext cx="3749100" cy="13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Service Bus: decouples consumers from workflow</a:t>
            </a:r>
            <a:endParaRPr sz="150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Outlook “Send email with options”: removes need for Durable Timer/state management</a:t>
            </a:r>
            <a:endParaRPr sz="150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828080" y="3033516"/>
            <a:ext cx="4023300" cy="2011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4754880" y="3033516"/>
            <a:ext cx="73200" cy="20118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919472" y="3124956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Service Bus Topic Subscriptions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565760" y="3731252"/>
            <a:ext cx="1170300" cy="411600"/>
          </a:xfrm>
          <a:prstGeom prst="roundRect">
            <a:avLst>
              <a:gd fmla="val 33333" name="adj"/>
            </a:avLst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5565760" y="3731240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approved-sub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565757" y="4252852"/>
            <a:ext cx="1170300" cy="411600"/>
          </a:xfrm>
          <a:prstGeom prst="roundRect">
            <a:avLst>
              <a:gd fmla="val 33333" name="adj"/>
            </a:avLst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5565757" y="4252840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rejected-sub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851982" y="4252852"/>
            <a:ext cx="1170300" cy="411600"/>
          </a:xfrm>
          <a:prstGeom prst="roundRect">
            <a:avLst>
              <a:gd fmla="val 33333" name="adj"/>
            </a:avLst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6851982" y="4252840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escalated</a:t>
            </a: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-sub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851982" y="3731252"/>
            <a:ext cx="1170300" cy="411600"/>
          </a:xfrm>
          <a:prstGeom prst="roundRect">
            <a:avLst>
              <a:gd fmla="val 33333" name="adj"/>
            </a:avLst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6851994" y="3731240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failed-sub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0074"/>
            <a:ext cx="9144003" cy="2281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A17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A17"/>
          </a:solidFill>
          <a:ln cap="flat" cmpd="sng" w="12700">
            <a:solidFill>
              <a:srgbClr val="071A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3017520" y="4343400"/>
            <a:ext cx="3108960" cy="502920"/>
          </a:xfrm>
          <a:prstGeom prst="roundRect">
            <a:avLst>
              <a:gd fmla="val 27273" name="adj"/>
            </a:avLst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3017520" y="434340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 B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Logic Apps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6" title="CST8917 Final Project: Version B, Logic App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3350" y="640075"/>
            <a:ext cx="6177289" cy="347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Comparison: Development, Testability &amp; Error Handling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2068725" y="777250"/>
            <a:ext cx="3427200" cy="351600"/>
          </a:xfrm>
          <a:prstGeom prst="rect">
            <a:avLst/>
          </a:prstGeom>
          <a:solidFill>
            <a:srgbClr val="1565C0"/>
          </a:solidFill>
          <a:ln cap="flat" cmpd="sng" w="122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875" lIns="87875" spcFirstLastPara="1" rIns="87875" wrap="square" tIns="8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2068725" y="777250"/>
            <a:ext cx="34272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3"/>
              <a:buFont typeface="Calibri"/>
              <a:buNone/>
            </a:pPr>
            <a:r>
              <a:rPr b="1" i="0" lang="en-US" sz="165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 A</a:t>
            </a:r>
            <a:r>
              <a:rPr b="1" lang="en-US" sz="165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165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Durable Functions</a:t>
            </a:r>
            <a:endParaRPr b="0" i="0" sz="165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5627819" y="777250"/>
            <a:ext cx="3427200" cy="351600"/>
          </a:xfrm>
          <a:prstGeom prst="rect">
            <a:avLst/>
          </a:prstGeom>
          <a:solidFill>
            <a:srgbClr val="00897B"/>
          </a:solidFill>
          <a:ln cap="flat" cmpd="sng" w="122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875" lIns="87875" spcFirstLastPara="1" rIns="87875" wrap="square" tIns="8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5627819" y="777250"/>
            <a:ext cx="34272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3"/>
              <a:buFont typeface="Calibri"/>
              <a:buNone/>
            </a:pPr>
            <a:r>
              <a:rPr b="1" i="0" lang="en-US" sz="165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 B</a:t>
            </a:r>
            <a:r>
              <a:rPr b="1" lang="en-US" sz="165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165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Logic Apps</a:t>
            </a:r>
            <a:endParaRPr b="0" i="0" sz="165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91450" y="1216642"/>
            <a:ext cx="1889100" cy="1212900"/>
          </a:xfrm>
          <a:prstGeom prst="rect">
            <a:avLst/>
          </a:prstGeom>
          <a:solidFill>
            <a:srgbClr val="0D1B3E"/>
          </a:solidFill>
          <a:ln cap="flat" cmpd="sng" w="122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875" lIns="87875" spcFirstLastPara="1" rIns="87875" wrap="square" tIns="8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91450" y="1216642"/>
            <a:ext cx="1889100" cy="12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3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3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Experience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2068725" y="1216642"/>
            <a:ext cx="3427200" cy="1212900"/>
          </a:xfrm>
          <a:prstGeom prst="rect">
            <a:avLst/>
          </a:prstGeom>
          <a:solidFill>
            <a:srgbClr val="FFFFFF"/>
          </a:solidFill>
          <a:ln cap="flat" cmpd="sng" w="9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97643" rotWithShape="0" algn="bl" dir="8100000" dist="36616">
              <a:srgbClr val="000000">
                <a:alpha val="12156"/>
              </a:srgbClr>
            </a:outerShdw>
          </a:effectLst>
        </p:spPr>
        <p:txBody>
          <a:bodyPr anchorCtr="0" anchor="ctr" bIns="87875" lIns="87875" spcFirstLastPara="1" rIns="87875" wrap="square" tIns="8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2156603" y="1304521"/>
            <a:ext cx="3251700" cy="10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925" lIns="87875" spcFirstLastPara="1" rIns="87875" wrap="square" tIns="43925">
            <a:noAutofit/>
          </a:bodyPr>
          <a:lstStyle/>
          <a:p>
            <a:pPr indent="-31807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9"/>
              <a:buFont typeface="Calibri"/>
              <a:buChar char="●"/>
            </a:pPr>
            <a:r>
              <a:rPr b="0" i="0" lang="en-US" sz="1409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Code-first: Python</a:t>
            </a:r>
            <a:endParaRPr sz="1409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807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9"/>
              <a:buFont typeface="Calibri"/>
              <a:buChar char="●"/>
            </a:pPr>
            <a:r>
              <a:rPr b="0" i="0" lang="en-US" sz="1409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Full control over logic &amp; state</a:t>
            </a:r>
            <a:endParaRPr sz="1409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807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9"/>
              <a:buFont typeface="Calibri"/>
              <a:buChar char="●"/>
            </a:pPr>
            <a:r>
              <a:rPr lang="en-US" sz="1409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Easy debugging via CLI &amp; logs</a:t>
            </a:r>
            <a:endParaRPr b="0" i="0" sz="14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627819" y="1216642"/>
            <a:ext cx="3427200" cy="1212900"/>
          </a:xfrm>
          <a:prstGeom prst="rect">
            <a:avLst/>
          </a:prstGeom>
          <a:solidFill>
            <a:srgbClr val="FFFFFF"/>
          </a:solidFill>
          <a:ln cap="flat" cmpd="sng" w="9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97643" rotWithShape="0" algn="bl" dir="8100000" dist="36616">
              <a:srgbClr val="000000">
                <a:alpha val="12156"/>
              </a:srgbClr>
            </a:outerShdw>
          </a:effectLst>
        </p:spPr>
        <p:txBody>
          <a:bodyPr anchorCtr="0" anchor="ctr" bIns="87875" lIns="87875" spcFirstLastPara="1" rIns="87875" wrap="square" tIns="8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5715697" y="1304521"/>
            <a:ext cx="3251700" cy="10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925" lIns="87875" spcFirstLastPara="1" rIns="87875" wrap="square" tIns="43925">
            <a:noAutofit/>
          </a:bodyPr>
          <a:lstStyle/>
          <a:p>
            <a:pPr indent="-31807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9"/>
              <a:buFont typeface="Calibri"/>
              <a:buChar char="●"/>
            </a:pPr>
            <a:r>
              <a:rPr b="0" i="0" lang="en-US" sz="1409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Visual drag-and-drop</a:t>
            </a:r>
            <a:r>
              <a:rPr lang="en-US" sz="1409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 workflow designer</a:t>
            </a:r>
            <a:endParaRPr sz="1409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807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9"/>
              <a:buFont typeface="Calibri"/>
              <a:buChar char="●"/>
            </a:pPr>
            <a:r>
              <a:rPr b="0" i="0" lang="en-US" sz="1409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Requires full live Azure infra deployment before test</a:t>
            </a:r>
            <a:r>
              <a:rPr lang="en-US" sz="1409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ing</a:t>
            </a:r>
            <a:r>
              <a:rPr b="0" i="0" lang="en-US" sz="1409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91450" y="2499667"/>
            <a:ext cx="1889100" cy="1212900"/>
          </a:xfrm>
          <a:prstGeom prst="rect">
            <a:avLst/>
          </a:prstGeom>
          <a:solidFill>
            <a:srgbClr val="0D1B3E"/>
          </a:solidFill>
          <a:ln cap="flat" cmpd="sng" w="122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875" lIns="87875" spcFirstLastPara="1" rIns="87875" wrap="square" tIns="8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91450" y="2499667"/>
            <a:ext cx="1889100" cy="12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3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Testability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2068725" y="2499667"/>
            <a:ext cx="3427200" cy="1212900"/>
          </a:xfrm>
          <a:prstGeom prst="rect">
            <a:avLst/>
          </a:prstGeom>
          <a:solidFill>
            <a:srgbClr val="EAF4EA"/>
          </a:solidFill>
          <a:ln cap="flat" cmpd="sng" w="9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97643" rotWithShape="0" algn="bl" dir="8100000" dist="36616">
              <a:srgbClr val="000000">
                <a:alpha val="12156"/>
              </a:srgbClr>
            </a:outerShdw>
          </a:effectLst>
        </p:spPr>
        <p:txBody>
          <a:bodyPr anchorCtr="0" anchor="ctr" bIns="87875" lIns="87875" spcFirstLastPara="1" rIns="87875" wrap="square" tIns="8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2156603" y="2587545"/>
            <a:ext cx="3251700" cy="10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925" lIns="87875" spcFirstLastPara="1" rIns="87875" wrap="square" tIns="43925">
            <a:noAutofit/>
          </a:bodyPr>
          <a:lstStyle/>
          <a:p>
            <a:pPr indent="-31172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9"/>
              <a:buFont typeface="Calibri"/>
              <a:buChar char="●"/>
            </a:pPr>
            <a:r>
              <a:rPr b="0" i="0" lang="en-US" sz="1309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Full local E2E via VS Code</a:t>
            </a:r>
            <a:r>
              <a:rPr lang="en-US" sz="1309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1309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728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9"/>
              <a:buFont typeface="Calibri"/>
              <a:buChar char="○"/>
            </a:pPr>
            <a:r>
              <a:rPr b="0" i="0" lang="en-US" sz="1309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Azurite</a:t>
            </a:r>
            <a:endParaRPr sz="1309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728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9"/>
              <a:buFont typeface="Calibri"/>
              <a:buChar char="○"/>
            </a:pPr>
            <a:r>
              <a:rPr lang="en-US" sz="1309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Azure Functions </a:t>
            </a:r>
            <a:r>
              <a:rPr b="0" i="0" lang="en-US" sz="1309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Core Tools. </a:t>
            </a:r>
            <a:endParaRPr b="0" i="0" sz="13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722666" y="3404815"/>
            <a:ext cx="702900" cy="246000"/>
          </a:xfrm>
          <a:prstGeom prst="roundRect">
            <a:avLst>
              <a:gd fmla="val 53571" name="adj"/>
            </a:avLst>
          </a:prstGeom>
          <a:solidFill>
            <a:srgbClr val="2E7D32"/>
          </a:solidFill>
          <a:ln cap="flat" cmpd="sng" w="122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875" lIns="87875" spcFirstLastPara="1" rIns="87875" wrap="square" tIns="8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4722666" y="3404815"/>
            <a:ext cx="7029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7"/>
              <a:buFont typeface="Calibri"/>
              <a:buNone/>
            </a:pPr>
            <a:r>
              <a:rPr b="1" i="0" lang="en-US" sz="105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WIN</a:t>
            </a:r>
            <a:endParaRPr b="0" i="0" sz="10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5627819" y="2499667"/>
            <a:ext cx="3427200" cy="1212900"/>
          </a:xfrm>
          <a:prstGeom prst="rect">
            <a:avLst/>
          </a:prstGeom>
          <a:solidFill>
            <a:srgbClr val="FFFFFF"/>
          </a:solidFill>
          <a:ln cap="flat" cmpd="sng" w="9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97643" rotWithShape="0" algn="bl" dir="8100000" dist="36616">
              <a:srgbClr val="000000">
                <a:alpha val="12156"/>
              </a:srgbClr>
            </a:outerShdw>
          </a:effectLst>
        </p:spPr>
        <p:txBody>
          <a:bodyPr anchorCtr="0" anchor="ctr" bIns="87875" lIns="87875" spcFirstLastPara="1" rIns="87875" wrap="square" tIns="8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5715697" y="2587545"/>
            <a:ext cx="3251700" cy="10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925" lIns="87875" spcFirstLastPara="1" rIns="87875" wrap="square" tIns="43925">
            <a:noAutofit/>
          </a:bodyPr>
          <a:lstStyle/>
          <a:p>
            <a:pPr indent="-31172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9"/>
              <a:buFont typeface="Calibri"/>
              <a:buChar char="●"/>
            </a:pPr>
            <a:r>
              <a:rPr b="0" i="0" lang="en-US" sz="1309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SAS tok</a:t>
            </a:r>
            <a:r>
              <a:rPr lang="en-US" sz="1309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ens needed for Service Bus conn</a:t>
            </a:r>
            <a:endParaRPr sz="1309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72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9"/>
              <a:buFont typeface="Calibri"/>
              <a:buChar char="●"/>
            </a:pPr>
            <a:r>
              <a:rPr lang="en-US" sz="1309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E2E </a:t>
            </a:r>
            <a:r>
              <a:rPr b="0" i="0" lang="en-US" sz="1309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untestable offline</a:t>
            </a:r>
            <a:r>
              <a:rPr lang="en-US" sz="1309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 across Service Bus -&gt; Logic Apps -&gt; Function -&gt; Storage Accounts</a:t>
            </a:r>
            <a:endParaRPr b="0" i="0" sz="13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91450" y="3782692"/>
            <a:ext cx="1889100" cy="1212900"/>
          </a:xfrm>
          <a:prstGeom prst="rect">
            <a:avLst/>
          </a:prstGeom>
          <a:solidFill>
            <a:srgbClr val="0D1B3E"/>
          </a:solidFill>
          <a:ln cap="flat" cmpd="sng" w="122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875" lIns="87875" spcFirstLastPara="1" rIns="87875" wrap="square" tIns="8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91450" y="3782692"/>
            <a:ext cx="1889100" cy="12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3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Error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3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Handling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2068725" y="3782692"/>
            <a:ext cx="3427200" cy="1212900"/>
          </a:xfrm>
          <a:prstGeom prst="rect">
            <a:avLst/>
          </a:prstGeom>
          <a:solidFill>
            <a:srgbClr val="EAF4EA"/>
          </a:solidFill>
          <a:ln cap="flat" cmpd="sng" w="9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97643" rotWithShape="0" algn="bl" dir="8100000" dist="36616">
              <a:srgbClr val="000000">
                <a:alpha val="12156"/>
              </a:srgbClr>
            </a:outerShdw>
          </a:effectLst>
        </p:spPr>
        <p:txBody>
          <a:bodyPr anchorCtr="0" anchor="ctr" bIns="87875" lIns="87875" spcFirstLastPara="1" rIns="87875" wrap="square" tIns="8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2156603" y="3870570"/>
            <a:ext cx="3251700" cy="10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925" lIns="87875" spcFirstLastPara="1" rIns="87875" wrap="square" tIns="43925">
            <a:noAutofit/>
          </a:bodyPr>
          <a:lstStyle/>
          <a:p>
            <a:pPr indent="-31807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9"/>
              <a:buFont typeface="Calibri"/>
              <a:buChar char="●"/>
            </a:pPr>
            <a:r>
              <a:rPr b="0" i="0" lang="en-US" sz="1409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try/except blocks.</a:t>
            </a:r>
            <a:endParaRPr b="0" i="0" sz="1409" u="none" cap="none" strike="noStrike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807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9"/>
              <a:buFont typeface="Calibri"/>
              <a:buChar char="●"/>
            </a:pPr>
            <a:r>
              <a:rPr b="0" i="0" lang="en-US" sz="1409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Custom RetryOptions with configura</a:t>
            </a:r>
            <a:r>
              <a:rPr lang="en-US" sz="1409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tions</a:t>
            </a:r>
            <a:endParaRPr b="0" i="0" sz="14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722666" y="4687840"/>
            <a:ext cx="702900" cy="246000"/>
          </a:xfrm>
          <a:prstGeom prst="roundRect">
            <a:avLst>
              <a:gd fmla="val 53571" name="adj"/>
            </a:avLst>
          </a:prstGeom>
          <a:solidFill>
            <a:srgbClr val="2E7D32"/>
          </a:solidFill>
          <a:ln cap="flat" cmpd="sng" w="122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875" lIns="87875" spcFirstLastPara="1" rIns="87875" wrap="square" tIns="8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722666" y="4687840"/>
            <a:ext cx="7029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7"/>
              <a:buFont typeface="Calibri"/>
              <a:buNone/>
            </a:pPr>
            <a:r>
              <a:rPr b="1" i="0" lang="en-US" sz="105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WIN</a:t>
            </a:r>
            <a:endParaRPr b="0" i="0" sz="10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627819" y="3782692"/>
            <a:ext cx="3427200" cy="1212900"/>
          </a:xfrm>
          <a:prstGeom prst="rect">
            <a:avLst/>
          </a:prstGeom>
          <a:solidFill>
            <a:srgbClr val="FFFFFF"/>
          </a:solidFill>
          <a:ln cap="flat" cmpd="sng" w="9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97643" rotWithShape="0" algn="bl" dir="8100000" dist="36616">
              <a:srgbClr val="000000">
                <a:alpha val="12156"/>
              </a:srgbClr>
            </a:outerShdw>
          </a:effectLst>
        </p:spPr>
        <p:txBody>
          <a:bodyPr anchorCtr="0" anchor="ctr" bIns="87875" lIns="87875" spcFirstLastPara="1" rIns="87875" wrap="square" tIns="8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5715697" y="3870570"/>
            <a:ext cx="3251700" cy="10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925" lIns="87875" spcFirstLastPara="1" rIns="87875" wrap="square" tIns="43925">
            <a:noAutofit/>
          </a:bodyPr>
          <a:lstStyle/>
          <a:p>
            <a:pPr indent="-31807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9"/>
              <a:buFont typeface="Calibri"/>
              <a:buChar char="●"/>
            </a:pPr>
            <a:r>
              <a:rPr b="0" i="0" lang="en-US" sz="1409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'Configure run after' state transitions. </a:t>
            </a:r>
            <a:endParaRPr b="0" i="0" sz="1409" u="none" cap="none" strike="noStrike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807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9"/>
              <a:buFont typeface="Calibri"/>
              <a:buChar char="●"/>
            </a:pPr>
            <a:r>
              <a:rPr b="0" i="0" lang="en-US" sz="1409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 Canvas clutters quickly</a:t>
            </a:r>
            <a:r>
              <a:rPr lang="en-US" sz="1409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 with state handling actions</a:t>
            </a:r>
            <a:endParaRPr b="0" i="0" sz="14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Comparison: Human Interaction, Observability &amp; Cost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2070490" y="777250"/>
            <a:ext cx="3430200" cy="351900"/>
          </a:xfrm>
          <a:prstGeom prst="rect">
            <a:avLst/>
          </a:prstGeom>
          <a:solidFill>
            <a:srgbClr val="1565C0"/>
          </a:solidFill>
          <a:ln cap="flat" cmpd="sng" w="122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50" lIns="87950" spcFirstLastPara="1" rIns="87950" wrap="square" tIns="8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2070490" y="777250"/>
            <a:ext cx="34302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4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 A</a:t>
            </a: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Durable Functions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5632763" y="777250"/>
            <a:ext cx="3430200" cy="351900"/>
          </a:xfrm>
          <a:prstGeom prst="rect">
            <a:avLst/>
          </a:prstGeom>
          <a:solidFill>
            <a:srgbClr val="00897B"/>
          </a:solidFill>
          <a:ln cap="flat" cmpd="sng" w="12225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50" lIns="87950" spcFirstLastPara="1" rIns="87950" wrap="square" tIns="8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5632763" y="777250"/>
            <a:ext cx="34302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4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 B</a:t>
            </a: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Logic Apps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91450" y="1217036"/>
            <a:ext cx="1891200" cy="1213800"/>
          </a:xfrm>
          <a:prstGeom prst="rect">
            <a:avLst/>
          </a:prstGeom>
          <a:solidFill>
            <a:srgbClr val="0D1B3E"/>
          </a:solidFill>
          <a:ln cap="flat" cmpd="sng" w="12225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50" lIns="87950" spcFirstLastPara="1" rIns="87950" wrap="square" tIns="8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91450" y="1217036"/>
            <a:ext cx="1891200" cy="12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4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4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Interaction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2070490" y="1217036"/>
            <a:ext cx="3430200" cy="1213800"/>
          </a:xfrm>
          <a:prstGeom prst="rect">
            <a:avLst/>
          </a:prstGeom>
          <a:solidFill>
            <a:srgbClr val="FFFFFF"/>
          </a:solidFill>
          <a:ln cap="flat" cmpd="sng" w="9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97730" rotWithShape="0" algn="bl" dir="8100000" dist="36649">
              <a:srgbClr val="000000">
                <a:alpha val="12156"/>
              </a:srgbClr>
            </a:outerShdw>
          </a:effectLst>
        </p:spPr>
        <p:txBody>
          <a:bodyPr anchorCtr="0" anchor="ctr" bIns="87950" lIns="87950" spcFirstLastPara="1" rIns="87950" wrap="square" tIns="8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2158447" y="1304993"/>
            <a:ext cx="3254400" cy="10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3950" lIns="87950" spcFirstLastPara="1" rIns="87950" wrap="square" tIns="43950">
            <a:noAutofit/>
          </a:bodyPr>
          <a:lstStyle/>
          <a:p>
            <a:pPr indent="-311786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10"/>
              <a:buFont typeface="Calibri"/>
              <a:buChar char="●"/>
            </a:pPr>
            <a:r>
              <a:rPr b="1" i="0" lang="en-US" sz="131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WaitForExternalEvent </a:t>
            </a:r>
            <a:r>
              <a:rPr lang="en-US" sz="131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r>
              <a:rPr b="0" i="0" lang="en-US" sz="131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31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Durable Timer </a:t>
            </a:r>
            <a:r>
              <a:rPr b="1" i="0" lang="en-US" sz="131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10" u="none" cap="none" strike="noStrike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786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10"/>
              <a:buFont typeface="Calibri"/>
              <a:buChar char="●"/>
            </a:pPr>
            <a:r>
              <a:rPr lang="en-US" sz="131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Req. </a:t>
            </a:r>
            <a:r>
              <a:rPr b="0" i="0" lang="en-US" sz="131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HTTP endpoints to route Approve/Reject to instance ID.</a:t>
            </a:r>
            <a:endParaRPr b="0" i="0" sz="13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5632763" y="1217036"/>
            <a:ext cx="3430200" cy="1213800"/>
          </a:xfrm>
          <a:prstGeom prst="rect">
            <a:avLst/>
          </a:prstGeom>
          <a:solidFill>
            <a:srgbClr val="EAF4EA"/>
          </a:solidFill>
          <a:ln cap="flat" cmpd="sng" w="9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97730" rotWithShape="0" algn="bl" dir="8100000" dist="36649">
              <a:srgbClr val="000000">
                <a:alpha val="12156"/>
              </a:srgbClr>
            </a:outerShdw>
          </a:effectLst>
        </p:spPr>
        <p:txBody>
          <a:bodyPr anchorCtr="0" anchor="ctr" bIns="87950" lIns="87950" spcFirstLastPara="1" rIns="87950" wrap="square" tIns="8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5720720" y="1304993"/>
            <a:ext cx="3254400" cy="10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3950" lIns="87950" spcFirstLastPara="1" rIns="87950" wrap="square" tIns="43950">
            <a:noAutofit/>
          </a:bodyPr>
          <a:lstStyle/>
          <a:p>
            <a:pPr indent="-305436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10"/>
              <a:buFont typeface="Calibri"/>
              <a:buChar char="●"/>
            </a:pPr>
            <a:r>
              <a:rPr b="1" i="0" lang="en-US" sz="121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'Send email with options'</a:t>
            </a:r>
            <a:r>
              <a:rPr b="0" i="0" lang="en-US" sz="121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1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Outlook </a:t>
            </a:r>
            <a:r>
              <a:rPr b="0" i="0" lang="en-US" sz="121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connector</a:t>
            </a:r>
            <a:endParaRPr b="0" i="0" sz="1210" u="none" cap="none" strike="noStrike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5436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10"/>
              <a:buFont typeface="Calibri"/>
              <a:buChar char="●"/>
            </a:pPr>
            <a:r>
              <a:rPr b="0" i="0" lang="en-US" sz="121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Timeout set in </a:t>
            </a:r>
            <a:r>
              <a:rPr b="1" i="0" lang="en-US" sz="121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action settings. </a:t>
            </a:r>
            <a:endParaRPr b="1" i="0" sz="1210" u="none" cap="none" strike="noStrike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5436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10"/>
              <a:buFont typeface="Calibri"/>
              <a:buChar char="●"/>
            </a:pPr>
            <a:r>
              <a:rPr b="1" i="0" lang="en-US" sz="121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Zero custom UI needed.</a:t>
            </a:r>
            <a:endParaRPr b="1" i="0" sz="12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8183526" y="2122996"/>
            <a:ext cx="703800" cy="246300"/>
          </a:xfrm>
          <a:prstGeom prst="roundRect">
            <a:avLst>
              <a:gd fmla="val 53571" name="adj"/>
            </a:avLst>
          </a:prstGeom>
          <a:solidFill>
            <a:srgbClr val="2E7D32"/>
          </a:solidFill>
          <a:ln cap="flat" cmpd="sng" w="12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50" lIns="87950" spcFirstLastPara="1" rIns="87950" wrap="square" tIns="8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8183526" y="2122996"/>
            <a:ext cx="703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8"/>
              <a:buFont typeface="Calibri"/>
              <a:buNone/>
            </a:pPr>
            <a:r>
              <a:rPr b="1" i="0" lang="en-US" sz="105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WIN</a:t>
            </a:r>
            <a:endParaRPr b="0" i="0" sz="10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91450" y="2501213"/>
            <a:ext cx="1891200" cy="1213800"/>
          </a:xfrm>
          <a:prstGeom prst="rect">
            <a:avLst/>
          </a:prstGeom>
          <a:solidFill>
            <a:srgbClr val="0D1B3E"/>
          </a:solidFill>
          <a:ln cap="flat" cmpd="sng" w="12225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50" lIns="87950" spcFirstLastPara="1" rIns="87950" wrap="square" tIns="8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91450" y="2501213"/>
            <a:ext cx="1891200" cy="12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4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Observability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2070490" y="2501213"/>
            <a:ext cx="3430200" cy="1213800"/>
          </a:xfrm>
          <a:prstGeom prst="rect">
            <a:avLst/>
          </a:prstGeom>
          <a:solidFill>
            <a:srgbClr val="FFFFFF"/>
          </a:solidFill>
          <a:ln cap="flat" cmpd="sng" w="9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97730" rotWithShape="0" algn="bl" dir="8100000" dist="36649">
              <a:srgbClr val="000000">
                <a:alpha val="12156"/>
              </a:srgbClr>
            </a:outerShdw>
          </a:effectLst>
        </p:spPr>
        <p:txBody>
          <a:bodyPr anchorCtr="0" anchor="ctr" bIns="87950" lIns="87950" spcFirstLastPara="1" rIns="87950" wrap="square" tIns="8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2158447" y="2589170"/>
            <a:ext cx="3254400" cy="10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3950" lIns="87950" spcFirstLastPara="1" rIns="87950" wrap="square" tIns="43950">
            <a:noAutofit/>
          </a:bodyPr>
          <a:lstStyle/>
          <a:p>
            <a:pPr indent="-311786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10"/>
              <a:buFont typeface="Calibri"/>
              <a:buChar char="●"/>
            </a:pPr>
            <a:r>
              <a:rPr b="0" i="0" lang="en-US" sz="131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Relies on </a:t>
            </a:r>
            <a:r>
              <a:rPr b="1" i="0" lang="en-US" sz="131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statusQueryGetUri </a:t>
            </a:r>
            <a:r>
              <a:rPr b="0" i="0" lang="en-US" sz="131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polling </a:t>
            </a:r>
            <a:r>
              <a:rPr lang="en-US" sz="131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&amp; </a:t>
            </a:r>
            <a:r>
              <a:rPr b="1" i="0" lang="en-US" sz="131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Application Insights. </a:t>
            </a:r>
            <a:endParaRPr b="1" i="0" sz="1310" u="none" cap="none" strike="noStrike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786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10"/>
              <a:buFont typeface="Calibri"/>
              <a:buChar char="●"/>
            </a:pPr>
            <a:r>
              <a:rPr b="0" i="0" lang="en-US" sz="131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Debugging failures </a:t>
            </a:r>
            <a:r>
              <a:rPr lang="en-US" sz="131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req. </a:t>
            </a:r>
            <a:r>
              <a:rPr b="1" i="0" lang="en-US" sz="131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Log Analytics</a:t>
            </a:r>
            <a:r>
              <a:rPr b="0" i="0" lang="en-US" sz="131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 queries or instance status API calls.</a:t>
            </a:r>
            <a:endParaRPr b="0" i="0" sz="13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5632763" y="2501213"/>
            <a:ext cx="3430200" cy="1213800"/>
          </a:xfrm>
          <a:prstGeom prst="rect">
            <a:avLst/>
          </a:prstGeom>
          <a:solidFill>
            <a:srgbClr val="EAF4EA"/>
          </a:solidFill>
          <a:ln cap="flat" cmpd="sng" w="9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97730" rotWithShape="0" algn="bl" dir="8100000" dist="36649">
              <a:srgbClr val="000000">
                <a:alpha val="12156"/>
              </a:srgbClr>
            </a:outerShdw>
          </a:effectLst>
        </p:spPr>
        <p:txBody>
          <a:bodyPr anchorCtr="0" anchor="ctr" bIns="87950" lIns="87950" spcFirstLastPara="1" rIns="87950" wrap="square" tIns="8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5720720" y="2589170"/>
            <a:ext cx="3254400" cy="10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3950" lIns="87950" spcFirstLastPara="1" rIns="87950" wrap="square" tIns="43950">
            <a:noAutofit/>
          </a:bodyPr>
          <a:lstStyle/>
          <a:p>
            <a:pPr indent="-305436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10"/>
              <a:buFont typeface="Calibri"/>
              <a:buChar char="●"/>
            </a:pPr>
            <a:r>
              <a:rPr b="0" i="0" lang="en-US" sz="121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'</a:t>
            </a:r>
            <a:r>
              <a:rPr b="1" i="0" lang="en-US" sz="121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Runs history</a:t>
            </a:r>
            <a:r>
              <a:rPr b="0" i="0" lang="en-US" sz="121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'</a:t>
            </a:r>
            <a:r>
              <a:rPr lang="en-US" sz="121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: c</a:t>
            </a:r>
            <a:r>
              <a:rPr b="0" i="0" lang="en-US" sz="121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lick any step to see inputs/outputs. </a:t>
            </a:r>
            <a:endParaRPr b="0" i="0" sz="1210" u="none" cap="none" strike="noStrike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5436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10"/>
              <a:buFont typeface="Calibri"/>
              <a:buChar char="●"/>
            </a:pPr>
            <a:r>
              <a:rPr b="0" i="0" lang="en-US" sz="121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Instantly shows </a:t>
            </a:r>
            <a:r>
              <a:rPr b="1" i="0" lang="en-US" sz="121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which branch was taken</a:t>
            </a:r>
            <a:r>
              <a:rPr b="1" lang="en-US" sz="121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1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&amp; </a:t>
            </a:r>
            <a:r>
              <a:rPr b="1" lang="en-US" sz="121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which action succeeded/failed</a:t>
            </a:r>
            <a:endParaRPr b="1" i="0" sz="12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8183526" y="3407173"/>
            <a:ext cx="703800" cy="246300"/>
          </a:xfrm>
          <a:prstGeom prst="roundRect">
            <a:avLst>
              <a:gd fmla="val 53571" name="adj"/>
            </a:avLst>
          </a:prstGeom>
          <a:solidFill>
            <a:srgbClr val="2E7D32"/>
          </a:solidFill>
          <a:ln cap="flat" cmpd="sng" w="12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50" lIns="87950" spcFirstLastPara="1" rIns="87950" wrap="square" tIns="8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8183526" y="3407173"/>
            <a:ext cx="703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8"/>
              <a:buFont typeface="Calibri"/>
              <a:buNone/>
            </a:pPr>
            <a:r>
              <a:rPr b="1" i="0" lang="en-US" sz="105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WIN</a:t>
            </a:r>
            <a:endParaRPr b="0" i="0" sz="10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91450" y="3785389"/>
            <a:ext cx="1891200" cy="1213800"/>
          </a:xfrm>
          <a:prstGeom prst="rect">
            <a:avLst/>
          </a:prstGeom>
          <a:solidFill>
            <a:srgbClr val="0D1B3E"/>
          </a:solidFill>
          <a:ln cap="flat" cmpd="sng" w="12225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50" lIns="87950" spcFirstLastPara="1" rIns="87950" wrap="square" tIns="8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91450" y="3785389"/>
            <a:ext cx="1891200" cy="12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4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Estimated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4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2070490" y="3785389"/>
            <a:ext cx="3430200" cy="1213800"/>
          </a:xfrm>
          <a:prstGeom prst="rect">
            <a:avLst/>
          </a:prstGeom>
          <a:solidFill>
            <a:srgbClr val="EAF4EA"/>
          </a:solidFill>
          <a:ln cap="flat" cmpd="sng" w="9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97730" rotWithShape="0" algn="bl" dir="8100000" dist="36649">
              <a:srgbClr val="000000">
                <a:alpha val="12156"/>
              </a:srgbClr>
            </a:outerShdw>
          </a:effectLst>
        </p:spPr>
        <p:txBody>
          <a:bodyPr anchorCtr="0" anchor="ctr" bIns="87950" lIns="87950" spcFirstLastPara="1" rIns="87950" wrap="square" tIns="8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2158447" y="3873346"/>
            <a:ext cx="3254400" cy="10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3950" lIns="87950" spcFirstLastPara="1" rIns="87950" wrap="square" tIns="43950">
            <a:noAutofit/>
          </a:bodyPr>
          <a:lstStyle/>
          <a:p>
            <a:pPr indent="-318136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0"/>
              <a:buFont typeface="Calibri"/>
              <a:buChar char="●"/>
            </a:pPr>
            <a:r>
              <a:rPr lang="en-US" sz="141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100 expenses/day: </a:t>
            </a:r>
            <a:r>
              <a:rPr b="1" lang="en-US" sz="141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$0.70</a:t>
            </a:r>
            <a:endParaRPr b="1" sz="141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8136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10"/>
              <a:buFont typeface="Calibri"/>
              <a:buChar char="●"/>
            </a:pPr>
            <a:r>
              <a:rPr lang="en-US" sz="141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10K expenses/day: </a:t>
            </a:r>
            <a:r>
              <a:rPr b="1" lang="en-US" sz="141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$12.64</a:t>
            </a:r>
            <a:endParaRPr b="1" sz="141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8136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10"/>
              <a:buFont typeface="Calibri"/>
              <a:buChar char="●"/>
            </a:pPr>
            <a:r>
              <a:rPr b="1" lang="en-US" sz="141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Free grant</a:t>
            </a:r>
            <a:r>
              <a:rPr lang="en-US" sz="141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 under 1 mil calls</a:t>
            </a:r>
            <a:endParaRPr sz="141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8136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10"/>
              <a:buFont typeface="Calibri"/>
              <a:buChar char="●"/>
            </a:pPr>
            <a:r>
              <a:rPr lang="en-US" sz="141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Mostly</a:t>
            </a:r>
            <a:r>
              <a:rPr b="1" lang="en-US" sz="141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 storage costs</a:t>
            </a:r>
            <a:endParaRPr b="1" sz="141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4726802" y="4691349"/>
            <a:ext cx="703800" cy="246300"/>
          </a:xfrm>
          <a:prstGeom prst="roundRect">
            <a:avLst>
              <a:gd fmla="val 53571" name="adj"/>
            </a:avLst>
          </a:prstGeom>
          <a:solidFill>
            <a:srgbClr val="2E7D32"/>
          </a:solidFill>
          <a:ln cap="flat" cmpd="sng" w="12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50" lIns="87950" spcFirstLastPara="1" rIns="87950" wrap="square" tIns="8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4726802" y="4691349"/>
            <a:ext cx="703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8"/>
              <a:buFont typeface="Calibri"/>
              <a:buNone/>
            </a:pPr>
            <a:r>
              <a:rPr b="1" i="0" lang="en-US" sz="105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WIN</a:t>
            </a:r>
            <a:endParaRPr b="0" i="0" sz="10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5632763" y="3785389"/>
            <a:ext cx="3430200" cy="1213800"/>
          </a:xfrm>
          <a:prstGeom prst="rect">
            <a:avLst/>
          </a:prstGeom>
          <a:solidFill>
            <a:srgbClr val="FFFFFF"/>
          </a:solidFill>
          <a:ln cap="flat" cmpd="sng" w="9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97730" rotWithShape="0" algn="bl" dir="8100000" dist="36649">
              <a:srgbClr val="000000">
                <a:alpha val="12156"/>
              </a:srgbClr>
            </a:outerShdw>
          </a:effectLst>
        </p:spPr>
        <p:txBody>
          <a:bodyPr anchorCtr="0" anchor="ctr" bIns="87950" lIns="87950" spcFirstLastPara="1" rIns="87950" wrap="square" tIns="8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5720720" y="3873346"/>
            <a:ext cx="3254400" cy="10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3950" lIns="87950" spcFirstLastPara="1" rIns="87950" wrap="square" tIns="43950">
            <a:noAutofit/>
          </a:bodyPr>
          <a:lstStyle/>
          <a:p>
            <a:pPr indent="-31178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0"/>
              <a:buFont typeface="Calibri"/>
              <a:buChar char="●"/>
            </a:pPr>
            <a:r>
              <a:rPr lang="en-US" sz="131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100 expenses/day: </a:t>
            </a:r>
            <a:r>
              <a:rPr b="1" lang="en-US" sz="131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$9.25</a:t>
            </a:r>
            <a:endParaRPr b="1" sz="131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786" lvl="0" marL="45720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10"/>
              <a:buFont typeface="Calibri"/>
              <a:buChar char="●"/>
            </a:pPr>
            <a:r>
              <a:rPr lang="en-US" sz="131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10K expenses/day: </a:t>
            </a:r>
            <a:r>
              <a:rPr b="1" lang="en-US" sz="131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$243.76</a:t>
            </a:r>
            <a:endParaRPr b="1" sz="131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786" lvl="0" marL="45720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10"/>
              <a:buFont typeface="Calibri"/>
              <a:buChar char="●"/>
            </a:pPr>
            <a:r>
              <a:rPr b="1" lang="en-US" sz="131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Standard tier for Service Bus </a:t>
            </a:r>
            <a:r>
              <a:rPr lang="en-US" sz="131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req. for Topics</a:t>
            </a:r>
            <a:endParaRPr sz="131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786" lvl="0" marL="45720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10"/>
              <a:buFont typeface="Calibri"/>
              <a:buChar char="●"/>
            </a:pPr>
            <a:r>
              <a:rPr lang="en-US" sz="131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Mostly </a:t>
            </a:r>
            <a:r>
              <a:rPr b="1" lang="en-US" sz="131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fixed costs</a:t>
            </a:r>
            <a:endParaRPr b="1" sz="131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10"/>
              <a:buFont typeface="Calibri"/>
              <a:buNone/>
            </a:pPr>
            <a:r>
              <a:t/>
            </a:r>
            <a:endParaRPr sz="131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Recommendation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365760" y="868680"/>
            <a:ext cx="8412480" cy="59436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365760" y="86868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Version B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Logic Apps  </a:t>
            </a: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365760" y="1600200"/>
            <a:ext cx="4069080" cy="3063240"/>
          </a:xfrm>
          <a:prstGeom prst="rect">
            <a:avLst/>
          </a:prstGeom>
          <a:solidFill>
            <a:srgbClr val="0B2A3A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365760" y="1600200"/>
            <a:ext cx="73152" cy="306324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530352" y="1737360"/>
            <a:ext cx="38130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Rationale</a:t>
            </a:r>
            <a:endParaRPr b="0" i="0" sz="1300" u="none" cap="none" strike="noStrike">
              <a:solidFill>
                <a:srgbClr val="E0F2F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530352" y="2176272"/>
            <a:ext cx="3813048" cy="235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Native 'Send email with options'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D0E8FF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Visual run history </a:t>
            </a:r>
            <a:r>
              <a:rPr lang="en-US" sz="1700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enables observability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D0E8FF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Service Bus: </a:t>
            </a:r>
            <a:r>
              <a:rPr lang="en-US" sz="1700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decoupled &amp; event driven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D0E8FF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~$13/mo Service Bus cost is negligible for  complex business workflow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4709160" y="1600200"/>
            <a:ext cx="4069080" cy="3063240"/>
          </a:xfrm>
          <a:prstGeom prst="rect">
            <a:avLst/>
          </a:prstGeom>
          <a:solidFill>
            <a:srgbClr val="1A1A2E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4709160" y="1600200"/>
            <a:ext cx="73152" cy="306324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4873752" y="1737360"/>
            <a:ext cx="38130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E3F0FF"/>
                </a:solidFill>
                <a:latin typeface="Calibri"/>
                <a:ea typeface="Calibri"/>
                <a:cs typeface="Calibri"/>
                <a:sym typeface="Calibri"/>
              </a:rPr>
              <a:t>When Version A?</a:t>
            </a:r>
            <a:endParaRPr b="0" i="0" sz="1300" u="none" cap="none" strike="noStrike">
              <a:solidFill>
                <a:srgbClr val="E3F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873752" y="2176272"/>
            <a:ext cx="3813048" cy="235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700"/>
              <a:buFont typeface="Calibri"/>
              <a:buChar char="•"/>
            </a:pPr>
            <a:r>
              <a:rPr lang="en-US" sz="1700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Require complex and custom logic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D0E8FF"/>
              </a:buClr>
              <a:buSzPts val="1700"/>
              <a:buFont typeface="Calibri"/>
              <a:buChar char="•"/>
            </a:pPr>
            <a:r>
              <a:rPr lang="en-US" sz="1700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i="0" lang="en-US" sz="17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an-out</a:t>
            </a:r>
            <a:r>
              <a:rPr lang="en-US" sz="1700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b="0" i="0" lang="en-US" sz="17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Fan-in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D0E8FF"/>
              </a:buClr>
              <a:buSzPts val="1700"/>
              <a:buFont typeface="Calibri"/>
              <a:buChar char="•"/>
            </a:pPr>
            <a:r>
              <a:rPr lang="en-US" sz="1700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Local development/testing </a:t>
            </a:r>
            <a:r>
              <a:rPr b="0" i="0" lang="en-US" sz="17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is </a:t>
            </a:r>
            <a:r>
              <a:rPr lang="en-US" sz="1700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required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Lessons Learned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365750" y="1270360"/>
            <a:ext cx="3977700" cy="328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502920" y="1723674"/>
            <a:ext cx="457200" cy="457200"/>
          </a:xfrm>
          <a:prstGeom prst="ellipse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"/>
          <p:cNvSpPr/>
          <p:nvPr/>
        </p:nvSpPr>
        <p:spPr>
          <a:xfrm>
            <a:off x="502920" y="1723699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1051550" y="1585096"/>
            <a:ext cx="31548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Low-code ≠ Easy to test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502900" y="2319600"/>
            <a:ext cx="3703200" cy="20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Char char="●"/>
            </a:pPr>
            <a:r>
              <a:rPr b="0" i="0" lang="en-US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Visual drag-and-drop hides </a:t>
            </a:r>
            <a:r>
              <a:rPr lang="en-US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auth </a:t>
            </a:r>
            <a:r>
              <a:rPr b="0" i="0" lang="en-US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layers underneath</a:t>
            </a:r>
            <a:endParaRPr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Triggering Service Bus required SAS token</a:t>
            </a:r>
            <a:endParaRPr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Full Azure infra had to be deployed first to test E2E</a:t>
            </a:r>
            <a:endParaRPr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4800600" y="1270348"/>
            <a:ext cx="3977700" cy="328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4937770" y="1723663"/>
            <a:ext cx="457200" cy="457200"/>
          </a:xfrm>
          <a:prstGeom prst="ellipse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4937770" y="172366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5486400" y="1585074"/>
            <a:ext cx="31548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Leverage </a:t>
            </a:r>
            <a:r>
              <a:rPr b="1" lang="en-US" sz="1800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connector </a:t>
            </a:r>
            <a:r>
              <a:rPr b="1" i="0" lang="en-US" sz="18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ecosystem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4937750" y="2319500"/>
            <a:ext cx="3703200" cy="20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Version A:</a:t>
            </a:r>
            <a:endParaRPr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Char char="○"/>
            </a:pPr>
            <a:r>
              <a:rPr lang="en-US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Custom </a:t>
            </a:r>
            <a:r>
              <a:rPr b="0" i="0" lang="en-US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HTTP endpoints for human approval </a:t>
            </a:r>
            <a:endParaRPr b="0" i="0" u="none" cap="none" strike="noStrike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Char char="○"/>
            </a:pPr>
            <a:r>
              <a:rPr lang="en-US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Implement Graph API or SMTP for email handling</a:t>
            </a:r>
            <a:endParaRPr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Version B:</a:t>
            </a:r>
            <a:endParaRPr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Char char="○"/>
            </a:pPr>
            <a:r>
              <a:rPr lang="en-US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‘Send </a:t>
            </a:r>
            <a:r>
              <a:rPr b="0" i="0" lang="en-US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email with options' Outlook connectors saved </a:t>
            </a:r>
            <a:r>
              <a:rPr lang="en-US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time on dev </a:t>
            </a:r>
            <a:r>
              <a:rPr b="0" i="0" lang="en-US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is </a:t>
            </a:r>
            <a:r>
              <a:rPr b="0" i="0" lang="en-US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friendly </a:t>
            </a:r>
            <a:r>
              <a:rPr b="0" i="0" lang="en-US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end-user experience.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2026-04-09T23:42:22Z</dcterms:created>
  <dc:creator>Alice Yang</dc:creator>
</cp:coreProperties>
</file>